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</Types>
</file>

<file path=_rels/.rels>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</p:sldIdLst>
  <p:sldSz cx="12192000" cy="6858000" type="wide"/>
  <p:notesSz cx="6858000" cy="9144000"/>
  <p:defaultTextStyle/>
</p:presentation>
</file>

<file path=ppt/presProps.xml><?xml version="1.0" encoding="utf-8"?>
<p:presentationPr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/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ableStyles" Target="tableStyles.xml"/><Relationship Id="rId8" Type="http://schemas.openxmlformats.org/officeDocument/2006/relationships/theme" Target="theme/theme1.xml"/></Relationship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/>
    <p:bodyStyle/>
    <p:otherStyle/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/>
          <p:nvPr/>
        </p:nvSpPr>
        <p:spPr>
          <a:xfrm>
            <a:off x="347472" y="201168"/>
            <a:ext cx="11475720" cy="658368"/>
          </a:xfrm>
          <a:prstGeom prst="rect">
            <a:avLst/>
          </a:prstGeom>
          <a:solidFill>
            <a:srgbClr val="F7F9FC"/>
          </a:solidFill>
          <a:ln w="12700">
            <a:solidFill>
              <a:srgbClr val="F7F9FC"/>
            </a:solidFill>
          </a:ln>
        </p:spPr>
        <p:txBody>
          <a:bodyPr wrap="square" lIns="150000" rIns="150000" tIns="90000" bIns="90000"/>
          <a:lstStyle/>
          <a:p>
            <a:buNone/>
            <a:r>
              <a:rPr lang="en-US" sz="2850" b="1">
                <a:solidFill>
                  <a:srgbClr val="111827"/>
                </a:solidFill>
              </a:rPr>
              <a:t>Object-Centric Neural Game Engine</a:t>
            </a:r>
          </a:p>
          <a:p>
            <a:buNone/>
            <a:r>
              <a:rPr lang="en-US" sz="1320">
                <a:solidFill>
                  <a:srgbClr val="4B5563"/>
                </a:solidFill>
              </a:rPr>
              <a:t>Shared architecture from Soyuj's slot-GNN baseline and Pranit's optimized WM</a:t>
            </a:r>
          </a:p>
        </p:txBody>
      </p:sp>
      <p:sp>
        <p:nvSpPr>
          <p:cNvPr id="3" name="key idea"/>
          <p:cNvSpPr/>
          <p:nvPr/>
        </p:nvSpPr>
        <p:spPr>
          <a:xfrm>
            <a:off x="502920" y="1143000"/>
            <a:ext cx="4297680" cy="3977640"/>
          </a:xfrm>
          <a:prstGeom prst="roundRect">
            <a:avLst/>
          </a:prstGeom>
          <a:solidFill>
            <a:srgbClr val="EEF6FF"/>
          </a:solidFill>
          <a:ln w="12700">
            <a:solidFill>
              <a:srgbClr val="99BDEB"/>
            </a:solidFill>
          </a:ln>
        </p:spPr>
        <p:txBody>
          <a:bodyPr wrap="square" lIns="150000" rIns="150000" tIns="90000" bIns="90000"/>
          <a:lstStyle/>
          <a:p>
            <a:buNone/>
            <a:r>
              <a:rPr lang="en-US" sz="2100" b="1">
                <a:solidFill>
                  <a:srgbClr val="0F172A"/>
                </a:solidFill>
              </a:rPr>
              <a:t>Key Idea</a:t>
            </a:r>
          </a:p>
          <a:p>
            <a:buChar char="•"/>
            <a:r>
              <a:rPr lang="en-US" sz="1800">
                <a:solidFill>
                  <a:srgbClr val="172033"/>
                </a:solidFill>
              </a:rPr>
              <a:t>Learn structured dynamics, not pixels: S_t, a_t, rule -&gt; S_{t+1}.</a:t>
            </a:r>
          </a:p>
          <a:p>
            <a:buChar char="•"/>
            <a:r>
              <a:rPr lang="en-US" sz="1800">
                <a:solidFill>
                  <a:srgbClr val="172033"/>
                </a:solidFill>
              </a:rPr>
              <a:t>Objects are fixed slots: x, y, vx, vy, size, type, mask/alive flag.</a:t>
            </a:r>
          </a:p>
          <a:p>
            <a:buChar char="•"/>
            <a:r>
              <a:rPr lang="en-US" sz="1800">
                <a:solidFill>
                  <a:srgbClr val="172033"/>
                </a:solidFill>
              </a:rPr>
              <a:t>Rules are explicit conditioning variables: normal, gravity, teleport.</a:t>
            </a:r>
          </a:p>
          <a:p>
            <a:buChar char="•"/>
            <a:r>
              <a:rPr lang="en-US" sz="1800">
                <a:solidFill>
                  <a:srgbClr val="172033"/>
                </a:solidFill>
              </a:rPr>
              <a:t>Same schema supports Pong and Breakout-lite: ball, paddle, blocks.</a:t>
            </a:r>
          </a:p>
          <a:p>
            <a:buChar char="•"/>
            <a:r>
              <a:rPr lang="en-US" sz="1800">
                <a:solidFill>
                  <a:srgbClr val="172033"/>
                </a:solidFill>
              </a:rPr>
              <a:t>Goal: swap rules and run counterfactual rollouts in the learned engine.</a:t>
            </a:r>
          </a:p>
        </p:txBody>
      </p:sp>
      <p:sp>
        <p:nvSpPr>
          <p:cNvPr id="4" name="envs"/>
          <p:cNvSpPr/>
          <p:nvPr/>
        </p:nvSpPr>
        <p:spPr>
          <a:xfrm>
            <a:off x="502920" y="5330952"/>
            <a:ext cx="4297680" cy="7498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txBody>
          <a:bodyPr wrap="square" lIns="150000" rIns="150000" tIns="90000" bIns="90000"/>
          <a:lstStyle/>
          <a:p>
            <a:buNone/>
            <a:r>
              <a:rPr lang="en-US" sz="1450" b="1">
                <a:solidFill>
                  <a:srgbClr val="0F172A"/>
                </a:solidFill>
              </a:rPr>
              <a:t>Environments</a:t>
            </a:r>
          </a:p>
          <a:p>
            <a:buNone/>
            <a:r>
              <a:rPr lang="en-US" sz="1200">
                <a:solidFill>
                  <a:srgbClr val="334155"/>
                </a:solidFill>
              </a:rPr>
              <a:t>Pong: normal / gravity / teleport. Breakout-lite: same object schema + blocks.</a:t>
            </a:r>
          </a:p>
        </p:txBody>
      </p:sp>
      <p:sp>
        <p:nvSpPr>
          <p:cNvPr id="10" name="Structured state API / RAM"/>
          <p:cNvSpPr/>
          <p:nvPr/>
        </p:nvSpPr>
        <p:spPr>
          <a:xfrm>
            <a:off x="5532120" y="1024128"/>
            <a:ext cx="5897880" cy="6583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txBody>
          <a:bodyPr wrap="square" lIns="150000" rIns="150000" tIns="90000" bIns="90000"/>
          <a:lstStyle/>
          <a:p>
            <a:buNone/>
            <a:r>
              <a:rPr lang="en-US" sz="1450" b="1">
                <a:solidFill>
                  <a:srgbClr val="172033"/>
                </a:solidFill>
              </a:rPr>
              <a:t>Structured state API / RAM</a:t>
            </a:r>
          </a:p>
          <a:p>
            <a:buNone/>
            <a:r>
              <a:rPr lang="en-US" sz="1050">
                <a:solidFill>
                  <a:srgbClr val="475569"/>
                </a:solidFill>
              </a:rPr>
              <a:t>S_t object slots + action + rule id</a:t>
            </a:r>
          </a:p>
        </p:txBody>
      </p:sp>
      <p:cxnSp>
        <p:nvCxnSpPr>
          <p:cNvPr id="30" name="connector 30"/>
          <p:cNvCxnSpPr/>
          <p:nvPr/>
        </p:nvCxnSpPr>
        <p:spPr>
          <a:xfrm>
            <a:off x="8485632" y="1700784"/>
            <a:ext cx="914" cy="256032"/>
          </a:xfrm>
          <a:prstGeom prst="line">
            <a:avLst/>
          </a:prstGeom>
          <a:ln w="19050">
            <a:solidFill>
              <a:srgbClr val="596579"/>
            </a:solidFill>
            <a:tailEnd type="triangle"/>
          </a:ln>
        </p:spPr>
      </p:cxnSp>
      <p:sp>
        <p:nvSpPr>
          <p:cNvPr id="11" name="Graph builder"/>
          <p:cNvSpPr/>
          <p:nvPr/>
        </p:nvSpPr>
        <p:spPr>
          <a:xfrm>
            <a:off x="5532120" y="1956816"/>
            <a:ext cx="5897880" cy="658368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txBody>
          <a:bodyPr wrap="square" lIns="150000" rIns="150000" tIns="90000" bIns="90000"/>
          <a:lstStyle/>
          <a:p>
            <a:buNone/>
            <a:r>
              <a:rPr lang="en-US" sz="1450" b="1">
                <a:solidFill>
                  <a:srgbClr val="172033"/>
                </a:solidFill>
              </a:rPr>
              <a:t>Graph builder</a:t>
            </a:r>
          </a:p>
          <a:p>
            <a:buNone/>
            <a:r>
              <a:rPr lang="en-US" sz="1050">
                <a:solidFill>
                  <a:srgbClr val="475569"/>
                </a:solidFill>
              </a:rPr>
              <a:t>hybrid edges: relative pos, relative vel, object type</a:t>
            </a:r>
          </a:p>
        </p:txBody>
      </p:sp>
      <p:cxnSp>
        <p:nvCxnSpPr>
          <p:cNvPr id="31" name="connector 31"/>
          <p:cNvCxnSpPr/>
          <p:nvPr/>
        </p:nvCxnSpPr>
        <p:spPr>
          <a:xfrm>
            <a:off x="8485632" y="2633472"/>
            <a:ext cx="914" cy="256032"/>
          </a:xfrm>
          <a:prstGeom prst="line">
            <a:avLst/>
          </a:prstGeom>
          <a:ln w="19050">
            <a:solidFill>
              <a:srgbClr val="596579"/>
            </a:solidFill>
            <a:tailEnd type="triangle"/>
          </a:ln>
        </p:spPr>
      </p:cxnSp>
      <p:sp>
        <p:nvSpPr>
          <p:cNvPr id="12" name="Rule/action-conditioned MPNN"/>
          <p:cNvSpPr/>
          <p:nvPr/>
        </p:nvSpPr>
        <p:spPr>
          <a:xfrm>
            <a:off x="5532120" y="2889504"/>
            <a:ext cx="5897880" cy="6583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txBody>
          <a:bodyPr wrap="square" lIns="150000" rIns="150000" tIns="90000" bIns="90000"/>
          <a:lstStyle/>
          <a:p>
            <a:buNone/>
            <a:r>
              <a:rPr lang="en-US" sz="1450" b="1">
                <a:solidFill>
                  <a:srgbClr val="172033"/>
                </a:solidFill>
              </a:rPr>
              <a:t>Rule/action-conditioned MPNN</a:t>
            </a:r>
          </a:p>
          <a:p>
            <a:buNone/>
            <a:r>
              <a:rPr lang="en-US" sz="1050">
                <a:solidFill>
                  <a:srgbClr val="475569"/>
                </a:solidFill>
              </a:rPr>
              <a:t>node encoder -&gt; edge messages -&gt; aggregate -&gt; node update</a:t>
            </a:r>
          </a:p>
        </p:txBody>
      </p:sp>
      <p:cxnSp>
        <p:nvCxnSpPr>
          <p:cNvPr id="32" name="connector 32"/>
          <p:cNvCxnSpPr/>
          <p:nvPr/>
        </p:nvCxnSpPr>
        <p:spPr>
          <a:xfrm>
            <a:off x="8485632" y="3566160"/>
            <a:ext cx="914" cy="256032"/>
          </a:xfrm>
          <a:prstGeom prst="line">
            <a:avLst/>
          </a:prstGeom>
          <a:ln w="19050">
            <a:solidFill>
              <a:srgbClr val="596579"/>
            </a:solidFill>
            <a:tailEnd type="triangle"/>
          </a:ln>
        </p:spPr>
      </p:cxnSp>
      <p:sp>
        <p:nvSpPr>
          <p:cNvPr id="13" name="Dynamics heads"/>
          <p:cNvSpPr/>
          <p:nvPr/>
        </p:nvSpPr>
        <p:spPr>
          <a:xfrm>
            <a:off x="5532120" y="3822192"/>
            <a:ext cx="5897880" cy="658368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txBody>
          <a:bodyPr wrap="square" lIns="150000" rIns="150000" tIns="90000" bIns="90000"/>
          <a:lstStyle/>
          <a:p>
            <a:buNone/>
            <a:r>
              <a:rPr lang="en-US" sz="1450" b="1">
                <a:solidFill>
                  <a:srgbClr val="172033"/>
                </a:solidFill>
              </a:rPr>
              <a:t>Dynamics heads</a:t>
            </a:r>
          </a:p>
          <a:p>
            <a:buNone/>
            <a:r>
              <a:rPr lang="en-US" sz="1050">
                <a:solidFill>
                  <a:srgbClr val="475569"/>
                </a:solidFill>
              </a:rPr>
              <a:t>slot update, mask/alive, event logits</a:t>
            </a:r>
          </a:p>
        </p:txBody>
      </p:sp>
      <p:cxnSp>
        <p:nvCxnSpPr>
          <p:cNvPr id="33" name="connector 33"/>
          <p:cNvCxnSpPr/>
          <p:nvPr/>
        </p:nvCxnSpPr>
        <p:spPr>
          <a:xfrm>
            <a:off x="8485632" y="4498848"/>
            <a:ext cx="914" cy="256032"/>
          </a:xfrm>
          <a:prstGeom prst="line">
            <a:avLst/>
          </a:prstGeom>
          <a:ln w="19050">
            <a:solidFill>
              <a:srgbClr val="596579"/>
            </a:solidFill>
            <a:tailEnd type="triangle"/>
          </a:ln>
        </p:spPr>
      </p:cxnSp>
      <p:sp>
        <p:nvSpPr>
          <p:cNvPr id="14" name="Neural rollout engine"/>
          <p:cNvSpPr/>
          <p:nvPr/>
        </p:nvSpPr>
        <p:spPr>
          <a:xfrm>
            <a:off x="5532120" y="4754880"/>
            <a:ext cx="5897880" cy="6583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txBody>
          <a:bodyPr wrap="square" lIns="150000" rIns="150000" tIns="90000" bIns="90000"/>
          <a:lstStyle/>
          <a:p>
            <a:buNone/>
            <a:r>
              <a:rPr lang="en-US" sz="1450" b="1">
                <a:solidFill>
                  <a:srgbClr val="172033"/>
                </a:solidFill>
              </a:rPr>
              <a:t>Neural rollout engine</a:t>
            </a:r>
          </a:p>
          <a:p>
            <a:buNone/>
            <a:r>
              <a:rPr lang="en-US" sz="1050">
                <a:solidFill>
                  <a:srgbClr val="475569"/>
                </a:solidFill>
              </a:rPr>
              <a:t>S_{t+1}; repeat for counterfactual simulation</a:t>
            </a:r>
          </a:p>
        </p:txBody>
      </p:sp>
      <p:sp>
        <p:nvSpPr>
          <p:cNvPr id="20" name="architecture label"/>
          <p:cNvSpPr/>
          <p:nvPr/>
        </p:nvSpPr>
        <p:spPr>
          <a:xfrm>
            <a:off x="5532120" y="5806440"/>
            <a:ext cx="5897880" cy="347472"/>
          </a:xfrm>
          <a:prstGeom prst="roundRect">
            <a:avLst/>
          </a:prstGeom>
          <a:solidFill>
            <a:srgbClr val="DBEAFE"/>
          </a:solidFill>
          <a:ln w="12700">
            <a:solidFill>
              <a:srgbClr val="93C5FD"/>
            </a:solidFill>
          </a:ln>
        </p:spPr>
        <p:txBody>
          <a:bodyPr wrap="square" lIns="150000" rIns="150000" tIns="90000" bIns="90000"/>
          <a:lstStyle/>
          <a:p>
            <a:buNone/>
            <a:r>
              <a:rPr lang="en-US" sz="1250" b="1">
                <a:solidFill>
                  <a:srgbClr val="1D4ED8"/>
                </a:solidFill>
              </a:rPr>
              <a:t>Right side: complete no-pixel object-GNN pipeline</a:t>
            </a:r>
          </a:p>
        </p:txBody>
      </p:sp>
      <p:sp>
        <p:nvSpPr>
          <p:cNvPr id="40" name="footer"/>
          <p:cNvSpPr/>
          <p:nvPr/>
        </p:nvSpPr>
        <p:spPr>
          <a:xfrm>
            <a:off x="502920" y="6473952"/>
            <a:ext cx="11155680" cy="228600"/>
          </a:xfrm>
          <a:prstGeom prst="rect">
            <a:avLst/>
          </a:prstGeom>
          <a:solidFill>
            <a:srgbClr val="F7F9FC"/>
          </a:solidFill>
          <a:ln w="12700">
            <a:solidFill>
              <a:srgbClr val="F7F9FC"/>
            </a:solidFill>
          </a:ln>
        </p:spPr>
        <p:txBody>
          <a:bodyPr wrap="square" lIns="150000" rIns="150000" tIns="90000" bIns="90000"/>
          <a:lstStyle/>
          <a:p>
            <a:buNone/>
            <a:r>
              <a:rPr lang="en-US" sz="900">
                <a:solidFill>
                  <a:srgbClr val="6B7280"/>
                </a:solidFill>
              </a:rPr>
              <a:t>Object-centric interface: no CNN / VAE / image reconstruction; all learning happens over structured object state.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/>
          <p:nvPr/>
        </p:nvSpPr>
        <p:spPr>
          <a:xfrm>
            <a:off x="347472" y="201168"/>
            <a:ext cx="11475720" cy="658368"/>
          </a:xfrm>
          <a:prstGeom prst="rect">
            <a:avLst/>
          </a:prstGeom>
          <a:solidFill>
            <a:srgbClr val="F7F9FC"/>
          </a:solidFill>
          <a:ln w="12700">
            <a:solidFill>
              <a:srgbClr val="F7F9FC"/>
            </a:solidFill>
          </a:ln>
        </p:spPr>
        <p:txBody>
          <a:bodyPr wrap="square" lIns="150000" rIns="150000" tIns="90000" bIns="90000"/>
          <a:lstStyle/>
          <a:p>
            <a:buNone/>
            <a:r>
              <a:rPr lang="en-US" sz="2850" b="1">
                <a:solidFill>
                  <a:srgbClr val="111827"/>
                </a:solidFill>
              </a:rPr>
              <a:t>Soyuj's World Model &amp; Results</a:t>
            </a:r>
          </a:p>
          <a:p>
            <a:buNone/>
            <a:r>
              <a:rPr lang="en-US" sz="1320">
                <a:solidFill>
                  <a:srgbClr val="4B5563"/>
                </a:solidFill>
              </a:rPr>
              <a:t>Baseline contribution: playable state-based editable world model with object slots</a:t>
            </a:r>
          </a:p>
        </p:txBody>
      </p:sp>
      <p:sp>
        <p:nvSpPr>
          <p:cNvPr id="3" name="soyuj established"/>
          <p:cNvSpPr/>
          <p:nvPr/>
        </p:nvSpPr>
        <p:spPr>
          <a:xfrm>
            <a:off x="502920" y="1042416"/>
            <a:ext cx="4709160" cy="4434840"/>
          </a:xfrm>
          <a:prstGeom prst="roundRect">
            <a:avLst/>
          </a:prstGeom>
          <a:solidFill>
            <a:srgbClr val="F0FDF4"/>
          </a:solidFill>
          <a:ln w="12700">
            <a:solidFill>
              <a:srgbClr val="86EFAC"/>
            </a:solidFill>
          </a:ln>
        </p:spPr>
        <p:txBody>
          <a:bodyPr wrap="square" lIns="150000" rIns="150000" tIns="90000" bIns="90000"/>
          <a:lstStyle/>
          <a:p>
            <a:buNone/>
            <a:r>
              <a:rPr lang="en-US" sz="2050" b="1">
                <a:solidFill>
                  <a:srgbClr val="172033"/>
                </a:solidFill>
              </a:rPr>
              <a:t>What Soyuj Established</a:t>
            </a:r>
          </a:p>
          <a:p>
            <a:buChar char="•"/>
            <a:r>
              <a:rPr lang="en-US" sz="1800">
                <a:solidFill>
                  <a:srgbClr val="172033"/>
                </a:solidFill>
              </a:rPr>
              <a:t>Custom Pong variants and Breakout-lite environments.</a:t>
            </a:r>
          </a:p>
          <a:p>
            <a:buChar char="•"/>
            <a:r>
              <a:rPr lang="en-US" sz="1800">
                <a:solidFill>
                  <a:srgbClr val="172033"/>
                </a:solidFill>
              </a:rPr>
              <a:t>Counterfactual data collection: same state/action stepped under each rule.</a:t>
            </a:r>
          </a:p>
          <a:p>
            <a:buChar char="•"/>
            <a:r>
              <a:rPr lang="en-US" sz="1800">
                <a:solidFill>
                  <a:srgbClr val="172033"/>
                </a:solidFill>
              </a:rPr>
              <a:t>Shared object-slot format across games: ball, paddle, blocks.</a:t>
            </a:r>
          </a:p>
          <a:p>
            <a:buChar char="•"/>
            <a:r>
              <a:rPr lang="en-US" sz="1800">
                <a:solidFill>
                  <a:srgbClr val="172033"/>
                </a:solidFill>
              </a:rPr>
              <a:t>Rule-conditioned slot GNN: type embeddings, rule embeddings, action injected into paddle nodes.</a:t>
            </a:r>
          </a:p>
          <a:p>
            <a:buChar char="•"/>
            <a:r>
              <a:rPr lang="en-US" sz="1800">
                <a:solidFill>
                  <a:srgbClr val="172033"/>
                </a:solidFill>
              </a:rPr>
              <a:t>Playable learned world model through pygame.</a:t>
            </a:r>
          </a:p>
        </p:txBody>
      </p:sp>
      <p:sp>
        <p:nvSpPr>
          <p:cNvPr id="4" name="baseline architecture"/>
          <p:cNvSpPr/>
          <p:nvPr/>
        </p:nvSpPr>
        <p:spPr>
          <a:xfrm>
            <a:off x="5532120" y="1051560"/>
            <a:ext cx="5989320" cy="184708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txBody>
          <a:bodyPr wrap="square" lIns="150000" rIns="150000" tIns="90000" bIns="90000"/>
          <a:lstStyle/>
          <a:p>
            <a:buNone/>
            <a:r>
              <a:rPr lang="en-US" sz="1850" b="1">
                <a:solidFill>
                  <a:srgbClr val="172033"/>
                </a:solidFill>
              </a:rPr>
              <a:t>Baseline Architecture</a:t>
            </a:r>
          </a:p>
          <a:p>
            <a:buChar char="•"/>
            <a:r>
              <a:rPr lang="en-US" sz="1800">
                <a:solidFill>
                  <a:srgbClr val="172033"/>
                </a:solidFill>
              </a:rPr>
              <a:t>slots -&gt; node encoder -&gt; fully connected message passing -&gt; residual slot decoder</a:t>
            </a:r>
          </a:p>
          <a:p>
            <a:buChar char="•"/>
            <a:r>
              <a:rPr lang="en-US" sz="1800">
                <a:solidFill>
                  <a:srgbClr val="172033"/>
                </a:solidFill>
              </a:rPr>
              <a:t>Loss: one-step slot MSE + contrastive latent loss + mask/alive loss</a:t>
            </a:r>
          </a:p>
          <a:p>
            <a:buChar char="•"/>
            <a:r>
              <a:rPr lang="en-US" sz="1800">
                <a:solidFill>
                  <a:srgbClr val="172033"/>
                </a:solidFill>
              </a:rPr>
              <a:t>Rule transfer support: explicit rule ids and rule ablation evaluation</a:t>
            </a:r>
          </a:p>
        </p:txBody>
      </p:sp>
      <p:sp>
        <p:nvSpPr>
          <p:cNvPr id="5" name="results"/>
          <p:cNvSpPr/>
          <p:nvPr/>
        </p:nvSpPr>
        <p:spPr>
          <a:xfrm>
            <a:off x="5532120" y="3154680"/>
            <a:ext cx="5989320" cy="2148840"/>
          </a:xfrm>
          <a:prstGeom prst="roundRect">
            <a:avLst/>
          </a:prstGeom>
          <a:solidFill>
            <a:srgbClr val="FFF7ED"/>
          </a:solidFill>
          <a:ln w="12700">
            <a:solidFill>
              <a:srgbClr val="FDBA74"/>
            </a:solidFill>
          </a:ln>
        </p:spPr>
        <p:txBody>
          <a:bodyPr wrap="square" lIns="150000" rIns="150000" tIns="90000" bIns="90000"/>
          <a:lstStyle/>
          <a:p>
            <a:buNone/>
            <a:r>
              <a:rPr lang="en-US" sz="1850" b="1">
                <a:solidFill>
                  <a:srgbClr val="172033"/>
                </a:solidFill>
              </a:rPr>
              <a:t>Observed Result Pattern</a:t>
            </a:r>
          </a:p>
          <a:p>
            <a:buChar char="•"/>
            <a:r>
              <a:rPr lang="en-US" sz="1800">
                <a:solidFill>
                  <a:srgbClr val="172033"/>
                </a:solidFill>
              </a:rPr>
              <a:t>Prior playable run reached best val_slot_rmse ~= 10.0.</a:t>
            </a:r>
          </a:p>
          <a:p>
            <a:buChar char="•"/>
            <a:r>
              <a:rPr lang="en-US" sz="1800">
                <a:solidFill>
                  <a:srgbClr val="172033"/>
                </a:solidFill>
              </a:rPr>
              <a:t>Gameplay still exposed instability: ball drift/jitter, wrong bounces, weak long rollouts.</a:t>
            </a:r>
          </a:p>
          <a:p>
            <a:buChar char="•"/>
            <a:r>
              <a:rPr lang="en-US" sz="1800">
                <a:solidFill>
                  <a:srgbClr val="172033"/>
                </a:solidFill>
              </a:rPr>
              <a:t>Collision/rare mechanics were much worse than ordinary free motion.</a:t>
            </a:r>
          </a:p>
          <a:p>
            <a:buChar char="•"/>
            <a:r>
              <a:rPr lang="en-US" sz="1800">
                <a:solidFill>
                  <a:srgbClr val="172033"/>
                </a:solidFill>
              </a:rPr>
              <a:t>Lesson: low one-step error is not enough for a reliable neural game engine.</a:t>
            </a:r>
          </a:p>
        </p:txBody>
      </p:sp>
      <p:sp>
        <p:nvSpPr>
          <p:cNvPr id="6" name="metric bar"/>
          <p:cNvSpPr/>
          <p:nvPr/>
        </p:nvSpPr>
        <p:spPr>
          <a:xfrm>
            <a:off x="502920" y="5687568"/>
            <a:ext cx="11018520" cy="512064"/>
          </a:xfrm>
          <a:prstGeom prst="roundRect">
            <a:avLst/>
          </a:prstGeom>
          <a:solidFill>
            <a:srgbClr val="FFEDD5"/>
          </a:solidFill>
          <a:ln w="12700">
            <a:solidFill>
              <a:srgbClr val="FDBA74"/>
            </a:solidFill>
          </a:ln>
        </p:spPr>
        <p:txBody>
          <a:bodyPr wrap="square" lIns="150000" rIns="150000" tIns="90000" bIns="90000"/>
          <a:lstStyle/>
          <a:p>
            <a:buNone/>
            <a:r>
              <a:rPr lang="en-US" sz="1280" b="1">
                <a:solidFill>
                  <a:srgbClr val="7C2D12"/>
                </a:solidFill>
              </a:rPr>
              <a:t>Baseline takeaway: Soyuj built the editable object-WM pipeline; Pranit's work targets rollout stability, events, and rule separation.</a:t>
            </a:r>
          </a:p>
        </p:txBody>
      </p:sp>
      <p:sp>
        <p:nvSpPr>
          <p:cNvPr id="40" name="footer"/>
          <p:cNvSpPr/>
          <p:nvPr/>
        </p:nvSpPr>
        <p:spPr>
          <a:xfrm>
            <a:off x="502920" y="6473952"/>
            <a:ext cx="11155680" cy="228600"/>
          </a:xfrm>
          <a:prstGeom prst="rect">
            <a:avLst/>
          </a:prstGeom>
          <a:solidFill>
            <a:srgbClr val="F7F9FC"/>
          </a:solidFill>
          <a:ln w="12700">
            <a:solidFill>
              <a:srgbClr val="F7F9FC"/>
            </a:solidFill>
          </a:ln>
        </p:spPr>
        <p:txBody>
          <a:bodyPr wrap="square" lIns="150000" rIns="150000" tIns="90000" bIns="90000"/>
          <a:lstStyle/>
          <a:p>
            <a:buNone/>
            <a:r>
              <a:rPr lang="en-US" sz="900">
                <a:solidFill>
                  <a:srgbClr val="6B7280"/>
                </a:solidFill>
              </a:rPr>
              <a:t>Numbers shown are local run metrics; gameplay quality was judged from learned-engine playbacks, not just one-step validation.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/>
          <p:nvPr/>
        </p:nvSpPr>
        <p:spPr>
          <a:xfrm>
            <a:off x="347472" y="201168"/>
            <a:ext cx="11475720" cy="658368"/>
          </a:xfrm>
          <a:prstGeom prst="rect">
            <a:avLst/>
          </a:prstGeom>
          <a:solidFill>
            <a:srgbClr val="F7F9FC"/>
          </a:solidFill>
          <a:ln w="12700">
            <a:solidFill>
              <a:srgbClr val="F7F9FC"/>
            </a:solidFill>
          </a:ln>
        </p:spPr>
        <p:txBody>
          <a:bodyPr wrap="square" lIns="150000" rIns="150000" tIns="90000" bIns="90000"/>
          <a:lstStyle/>
          <a:p>
            <a:buNone/>
            <a:r>
              <a:rPr lang="en-US" sz="2850" b="1">
                <a:solidFill>
                  <a:srgbClr val="111827"/>
                </a:solidFill>
              </a:rPr>
              <a:t>Areas of Optimization Addressed in Pranit's WM</a:t>
            </a:r>
          </a:p>
          <a:p>
            <a:buNone/>
            <a:r>
              <a:rPr lang="en-US" sz="1320">
                <a:solidFill>
                  <a:srgbClr val="4B5563"/>
                </a:solidFill>
              </a:rPr>
              <a:t>Turning a slot predictor into a more stable neural simulator</a:t>
            </a:r>
          </a:p>
        </p:txBody>
      </p:sp>
      <p:sp>
        <p:nvSpPr>
          <p:cNvPr id="3" name="problems"/>
          <p:cNvSpPr/>
          <p:nvPr/>
        </p:nvSpPr>
        <p:spPr>
          <a:xfrm>
            <a:off x="502920" y="1024128"/>
            <a:ext cx="4800600" cy="4480560"/>
          </a:xfrm>
          <a:prstGeom prst="roundRect">
            <a:avLst/>
          </a:prstGeom>
          <a:solidFill>
            <a:srgbClr val="FEF2F2"/>
          </a:solidFill>
          <a:ln w="12700">
            <a:solidFill>
              <a:srgbClr val="FCA5A5"/>
            </a:solidFill>
          </a:ln>
        </p:spPr>
        <p:txBody>
          <a:bodyPr wrap="square" lIns="150000" rIns="150000" tIns="90000" bIns="90000"/>
          <a:lstStyle/>
          <a:p>
            <a:buNone/>
            <a:r>
              <a:rPr lang="en-US" sz="2050" b="1">
                <a:solidFill>
                  <a:srgbClr val="172033"/>
                </a:solidFill>
              </a:rPr>
              <a:t>Failure Modes Observed</a:t>
            </a:r>
          </a:p>
          <a:p>
            <a:buChar char="•"/>
            <a:r>
              <a:rPr lang="en-US" sz="1800">
                <a:solidFill>
                  <a:srgbClr val="172033"/>
                </a:solidFill>
              </a:rPr>
              <a:t>Ball dynamics unstable: random direction and speed changes.</a:t>
            </a:r>
          </a:p>
          <a:p>
            <a:buChar char="•"/>
            <a:r>
              <a:rPr lang="en-US" sz="1800">
                <a:solidFill>
                  <a:srgbClr val="172033"/>
                </a:solidFill>
              </a:rPr>
              <a:t>Paddle drifted because actuator physics were learned freely.</a:t>
            </a:r>
          </a:p>
          <a:p>
            <a:buChar char="•"/>
            <a:r>
              <a:rPr lang="en-US" sz="1800">
                <a:solidFill>
                  <a:srgbClr val="172033"/>
                </a:solidFill>
              </a:rPr>
              <a:t>Collisions and wall bounces underfit relative to smooth motion.</a:t>
            </a:r>
          </a:p>
          <a:p>
            <a:buChar char="•"/>
            <a:r>
              <a:rPr lang="en-US" sz="1800">
                <a:solidFill>
                  <a:srgbClr val="172033"/>
                </a:solidFill>
              </a:rPr>
              <a:t>One-step loss dominated; autoregressive rollouts compounded errors.</a:t>
            </a:r>
          </a:p>
          <a:p>
            <a:buChar char="•"/>
            <a:r>
              <a:rPr lang="en-US" sz="1800">
                <a:solidFill>
                  <a:srgbClr val="172033"/>
                </a:solidFill>
              </a:rPr>
              <a:t>Rule effects could be entangled instead of cleanly separated.</a:t>
            </a:r>
          </a:p>
          <a:p>
            <a:buChar char="•"/>
            <a:r>
              <a:rPr lang="en-US" sz="1800">
                <a:solidFill>
                  <a:srgbClr val="172033"/>
                </a:solidFill>
              </a:rPr>
              <a:t>Teleport/wrap remains a special discontinuous-event challenge.</a:t>
            </a:r>
          </a:p>
        </p:txBody>
      </p:sp>
      <p:sp>
        <p:nvSpPr>
          <p:cNvPr id="4" name="optimizations"/>
          <p:cNvSpPr/>
          <p:nvPr/>
        </p:nvSpPr>
        <p:spPr>
          <a:xfrm>
            <a:off x="5532120" y="1024128"/>
            <a:ext cx="5989320" cy="4480560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93C5FD"/>
            </a:solidFill>
          </a:ln>
        </p:spPr>
        <p:txBody>
          <a:bodyPr wrap="square" lIns="150000" rIns="150000" tIns="90000" bIns="90000"/>
          <a:lstStyle/>
          <a:p>
            <a:buNone/>
            <a:r>
              <a:rPr lang="en-US" sz="2050" b="1">
                <a:solidFill>
                  <a:srgbClr val="172033"/>
                </a:solidFill>
              </a:rPr>
              <a:t>Optimizations Added</a:t>
            </a:r>
          </a:p>
          <a:p>
            <a:buChar char="•"/>
            <a:r>
              <a:rPr lang="en-US" sz="1800">
                <a:solidFill>
                  <a:srgbClr val="172033"/>
                </a:solidFill>
              </a:rPr>
              <a:t>Bounded residual deltas and ball velocity clamp for rollout stability.</a:t>
            </a:r>
          </a:p>
          <a:p>
            <a:buChar char="•"/>
            <a:r>
              <a:rPr lang="en-US" sz="1800">
                <a:solidFill>
                  <a:srgbClr val="172033"/>
                </a:solidFill>
              </a:rPr>
              <a:t>Deterministic paddle kinematics from action, speed, and dt.</a:t>
            </a:r>
          </a:p>
          <a:p>
            <a:buChar char="•"/>
            <a:r>
              <a:rPr lang="en-US" sz="1800">
                <a:solidFill>
                  <a:srgbClr val="172033"/>
                </a:solidFill>
              </a:rPr>
              <a:t>Feature-weighted slot loss + delta loss + free-flight kinematic loss.</a:t>
            </a:r>
          </a:p>
          <a:p>
            <a:buChar char="•"/>
            <a:r>
              <a:rPr lang="en-US" sz="1800">
                <a:solidFill>
                  <a:srgbClr val="172033"/>
                </a:solidFill>
              </a:rPr>
              <a:t>Multi-step rollout loss, rare-event sampler, event-weighted supervision.</a:t>
            </a:r>
          </a:p>
          <a:p>
            <a:buChar char="•"/>
            <a:r>
              <a:rPr lang="en-US" sz="1800">
                <a:solidFill>
                  <a:srgbClr val="172033"/>
                </a:solidFill>
              </a:rPr>
              <a:t>Counterfactual rule loss: same state/action, all rule targets.</a:t>
            </a:r>
          </a:p>
          <a:p>
            <a:buChar char="•"/>
            <a:r>
              <a:rPr lang="en-US" sz="1800">
                <a:solidFill>
                  <a:srgbClr val="172033"/>
                </a:solidFill>
              </a:rPr>
              <a:t>Event-specific metrics expose paddle hits, wall bounces, and wraps separately.</a:t>
            </a:r>
          </a:p>
        </p:txBody>
      </p:sp>
      <p:sp>
        <p:nvSpPr>
          <p:cNvPr id="5" name="next"/>
          <p:cNvSpPr/>
          <p:nvPr/>
        </p:nvSpPr>
        <p:spPr>
          <a:xfrm>
            <a:off x="1005840" y="5742432"/>
            <a:ext cx="9966960" cy="475488"/>
          </a:xfrm>
          <a:prstGeom prst="roundRect">
            <a:avLst/>
          </a:prstGeom>
          <a:solidFill>
            <a:srgbClr val="DBEAFE"/>
          </a:solidFill>
          <a:ln w="12700">
            <a:solidFill>
              <a:srgbClr val="60A5FA"/>
            </a:solidFill>
          </a:ln>
        </p:spPr>
        <p:txBody>
          <a:bodyPr wrap="square" lIns="150000" rIns="150000" tIns="90000" bIns="90000"/>
          <a:lstStyle/>
          <a:p>
            <a:buNone/>
            <a:r>
              <a:rPr lang="en-US" sz="1280" b="1">
                <a:solidFill>
                  <a:srgbClr val="1E3A8A"/>
                </a:solidFill>
              </a:rPr>
              <a:t>Next step: velocity-integrated decoder + event/rule-aware jump head for teleport and collision corrections.</a:t>
            </a:r>
          </a:p>
        </p:txBody>
      </p:sp>
      <p:sp>
        <p:nvSpPr>
          <p:cNvPr id="40" name="footer"/>
          <p:cNvSpPr/>
          <p:nvPr/>
        </p:nvSpPr>
        <p:spPr>
          <a:xfrm>
            <a:off x="502920" y="6473952"/>
            <a:ext cx="11155680" cy="228600"/>
          </a:xfrm>
          <a:prstGeom prst="rect">
            <a:avLst/>
          </a:prstGeom>
          <a:solidFill>
            <a:srgbClr val="F7F9FC"/>
          </a:solidFill>
          <a:ln w="12700">
            <a:solidFill>
              <a:srgbClr val="F7F9FC"/>
            </a:solidFill>
          </a:ln>
        </p:spPr>
        <p:txBody>
          <a:bodyPr wrap="square" lIns="150000" rIns="150000" tIns="90000" bIns="90000"/>
          <a:lstStyle/>
          <a:p>
            <a:buNone/>
            <a:r>
              <a:rPr lang="en-US" sz="900">
                <a:solidFill>
                  <a:srgbClr val="6B7280"/>
                </a:solidFill>
              </a:rPr>
              <a:t>Pranit WM optimization target: better physical consistency, long-horizon rollout stability, and rule-transfer behavior.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bjectCentric">
  <a:themeElements>
    <a:clrScheme name="ObjectCentric">
      <a:dk1>
        <a:srgbClr val="111827"/>
      </a:dk1>
      <a:lt1>
        <a:srgbClr val="FFFFFF"/>
      </a:lt1>
      <a:dk2>
        <a:srgbClr val="1F2937"/>
      </a:dk2>
      <a:lt2>
        <a:srgbClr val="F7F9FC"/>
      </a:lt2>
      <a:accent1>
        <a:srgbClr val="2563EB"/>
      </a:accent1>
      <a:accent2>
        <a:srgbClr val="16A34A"/>
      </a:accent2>
      <a:accent3>
        <a:srgbClr val="F97316"/>
      </a:accent3>
      <a:accent4>
        <a:srgbClr val="DC2626"/>
      </a:accent4>
      <a:accent5>
        <a:srgbClr val="7C3AED"/>
      </a:accent5>
      <a:accent6>
        <a:srgbClr val="0891B2"/>
      </a:accent6>
      <a:hlink>
        <a:srgbClr val="2563EB"/>
      </a:hlink>
      <a:folHlink>
        <a:srgbClr val="7C3AED"/>
      </a:folHlink>
    </a:clrScheme>
    <a:fontScheme name="Aptos">
      <a:majorFont>
        <a:latin typeface="Aptos Display"/>
      </a:majorFont>
      <a:minorFont>
        <a:latin typeface="Aptos"/>
      </a:minorFont>
    </a:fontScheme>
    <a:fmtScheme name="Clean">
      <a:fillStyleLst>
        <a:solidFill>
          <a:schemeClr val="phClr"/>
        </a:solidFill>
      </a:fillStyleLst>
      <a:lnStyleLst>
        <a:ln w="9525">
          <a:solidFill>
            <a:schemeClr val="phClr"/>
          </a:solidFill>
        </a:ln>
      </a:lnStyleLst>
      <a:effectStyleLst>
        <a:effectStyle>
          <a:effectLst/>
        </a:effectStyle>
      </a:effectStyleLst>
      <a:bgFillStyleLst>
        <a:solidFill>
          <a:schemeClr val="phClr"/>
        </a:solidFill>
      </a:bgFillStyleLst>
    </a:fmtScheme>
  </a:themeElements>
</a:theme>
</file>